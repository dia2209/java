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8288000" cy="10287000"/>
  <p:notesSz cx="6858000" cy="9144000"/>
  <p:embeddedFontLst>
    <p:embeddedFont>
      <p:font typeface="Arial Bold" charset="1" panose="020B0704020202020204"/>
      <p:regular r:id="rId21"/>
    </p:embeddedFont>
    <p:embeddedFont>
      <p:font typeface="Arial Italics" charset="1" panose="020B0604020202090204"/>
      <p:regular r:id="rId22"/>
    </p:embeddedFont>
    <p:embeddedFont>
      <p:font typeface="Arial" charset="1" panose="020B0604020202020204"/>
      <p:regular r:id="rId23"/>
    </p:embeddedFont>
    <p:embeddedFont>
      <p:font typeface="Arimo" charset="1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717157" y="4291489"/>
            <a:ext cx="10870749" cy="868673"/>
            <a:chOff x="0" y="0"/>
            <a:chExt cx="14494332" cy="11582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94332" cy="1158224"/>
            </a:xfrm>
            <a:custGeom>
              <a:avLst/>
              <a:gdLst/>
              <a:ahLst/>
              <a:cxnLst/>
              <a:rect r="r" b="b" t="t" l="l"/>
              <a:pathLst>
                <a:path h="1158224" w="14494332">
                  <a:moveTo>
                    <a:pt x="0" y="0"/>
                  </a:moveTo>
                  <a:lnTo>
                    <a:pt x="14494332" y="0"/>
                  </a:lnTo>
                  <a:lnTo>
                    <a:pt x="14494332" y="1158224"/>
                  </a:lnTo>
                  <a:lnTo>
                    <a:pt x="0" y="11582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0728" r="0" b="-186953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14494332" cy="117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StockSmar</a:t>
              </a:r>
              <a:r>
                <a:rPr lang="en-US" sz="4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297289" y="6007886"/>
            <a:ext cx="12817945" cy="635055"/>
            <a:chOff x="0" y="0"/>
            <a:chExt cx="17090593" cy="84674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090594" cy="846746"/>
            </a:xfrm>
            <a:custGeom>
              <a:avLst/>
              <a:gdLst/>
              <a:ahLst/>
              <a:cxnLst/>
              <a:rect r="r" b="b" t="t" l="l"/>
              <a:pathLst>
                <a:path h="846746" w="17090594">
                  <a:moveTo>
                    <a:pt x="0" y="0"/>
                  </a:moveTo>
                  <a:lnTo>
                    <a:pt x="17090594" y="0"/>
                  </a:lnTo>
                  <a:lnTo>
                    <a:pt x="17090594" y="846746"/>
                  </a:lnTo>
                  <a:lnTo>
                    <a:pt x="0" y="8467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3539" r="15191" b="-28353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7090593" cy="865790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Diya Manandhar, Shreyas Regmi, Avash Shrestha, Krishala Pokhrel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890277" y="7490909"/>
            <a:ext cx="10870749" cy="609273"/>
            <a:chOff x="0" y="0"/>
            <a:chExt cx="14494332" cy="8123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494332" cy="812369"/>
            </a:xfrm>
            <a:custGeom>
              <a:avLst/>
              <a:gdLst/>
              <a:ahLst/>
              <a:cxnLst/>
              <a:rect r="r" b="b" t="t" l="l"/>
              <a:pathLst>
                <a:path h="812369" w="14494332">
                  <a:moveTo>
                    <a:pt x="0" y="0"/>
                  </a:moveTo>
                  <a:lnTo>
                    <a:pt x="14494332" y="0"/>
                  </a:lnTo>
                  <a:lnTo>
                    <a:pt x="14494332" y="812369"/>
                  </a:lnTo>
                  <a:lnTo>
                    <a:pt x="0" y="8123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5537" r="0" b="-299768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4494332" cy="83141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 i="true">
                  <a:solidFill>
                    <a:srgbClr val="000000"/>
                  </a:solidFill>
                  <a:latin typeface="Arial Italics"/>
                  <a:ea typeface="Arial Italics"/>
                  <a:cs typeface="Arial Italics"/>
                  <a:sym typeface="Arial Italics"/>
                </a:rPr>
                <a:t>Under Supervision of Mr. Sanju Shrestha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258897" y="0"/>
            <a:ext cx="18546897" cy="1009690"/>
          </a:xfrm>
          <a:custGeom>
            <a:avLst/>
            <a:gdLst/>
            <a:ahLst/>
            <a:cxnLst/>
            <a:rect r="r" b="b" t="t" l="l"/>
            <a:pathLst>
              <a:path h="1009690" w="18546897">
                <a:moveTo>
                  <a:pt x="0" y="0"/>
                </a:moveTo>
                <a:lnTo>
                  <a:pt x="18546897" y="0"/>
                </a:lnTo>
                <a:lnTo>
                  <a:pt x="18546897" y="1009690"/>
                </a:lnTo>
                <a:lnTo>
                  <a:pt x="0" y="10096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237" r="0" b="-4567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66690" y="9967855"/>
            <a:ext cx="18887417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1312" y="39842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Presentation Outline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028700" y="2587684"/>
            <a:ext cx="4748613" cy="1308135"/>
            <a:chOff x="0" y="0"/>
            <a:chExt cx="1250663" cy="34452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510687" y="6886722"/>
            <a:ext cx="4748613" cy="1308135"/>
            <a:chOff x="0" y="0"/>
            <a:chExt cx="1250663" cy="34452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769694" y="6886722"/>
            <a:ext cx="4748613" cy="1308135"/>
            <a:chOff x="0" y="0"/>
            <a:chExt cx="1250663" cy="3445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6769694" y="2587684"/>
            <a:ext cx="4748613" cy="1308135"/>
            <a:chOff x="0" y="0"/>
            <a:chExt cx="1250663" cy="34452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6769694" y="4636302"/>
            <a:ext cx="4748613" cy="1308135"/>
            <a:chOff x="0" y="0"/>
            <a:chExt cx="1250663" cy="34452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28700" y="6886722"/>
            <a:ext cx="4748613" cy="1308135"/>
            <a:chOff x="0" y="0"/>
            <a:chExt cx="1250663" cy="34452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28700" y="4636302"/>
            <a:ext cx="4748613" cy="1308135"/>
            <a:chOff x="0" y="0"/>
            <a:chExt cx="1250663" cy="34452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2510687" y="4636302"/>
            <a:ext cx="4748613" cy="1308135"/>
            <a:chOff x="0" y="0"/>
            <a:chExt cx="1250663" cy="34452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539262" y="2587684"/>
            <a:ext cx="4748613" cy="1308135"/>
            <a:chOff x="0" y="0"/>
            <a:chExt cx="1250663" cy="344529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0663" cy="344529"/>
            </a:xfrm>
            <a:custGeom>
              <a:avLst/>
              <a:gdLst/>
              <a:ahLst/>
              <a:cxnLst/>
              <a:rect r="r" b="b" t="t" l="l"/>
              <a:pathLst>
                <a:path h="344529" w="1250663">
                  <a:moveTo>
                    <a:pt x="83148" y="0"/>
                  </a:moveTo>
                  <a:lnTo>
                    <a:pt x="1167515" y="0"/>
                  </a:lnTo>
                  <a:cubicBezTo>
                    <a:pt x="1189568" y="0"/>
                    <a:pt x="1210717" y="8760"/>
                    <a:pt x="1226310" y="24354"/>
                  </a:cubicBezTo>
                  <a:cubicBezTo>
                    <a:pt x="1241903" y="39947"/>
                    <a:pt x="1250663" y="61096"/>
                    <a:pt x="1250663" y="83148"/>
                  </a:cubicBezTo>
                  <a:lnTo>
                    <a:pt x="1250663" y="261381"/>
                  </a:lnTo>
                  <a:cubicBezTo>
                    <a:pt x="1250663" y="283434"/>
                    <a:pt x="1241903" y="304583"/>
                    <a:pt x="1226310" y="320176"/>
                  </a:cubicBezTo>
                  <a:cubicBezTo>
                    <a:pt x="1210717" y="335769"/>
                    <a:pt x="1189568" y="344529"/>
                    <a:pt x="1167515" y="344529"/>
                  </a:cubicBezTo>
                  <a:lnTo>
                    <a:pt x="83148" y="344529"/>
                  </a:lnTo>
                  <a:cubicBezTo>
                    <a:pt x="61096" y="344529"/>
                    <a:pt x="39947" y="335769"/>
                    <a:pt x="24354" y="320176"/>
                  </a:cubicBezTo>
                  <a:cubicBezTo>
                    <a:pt x="8760" y="304583"/>
                    <a:pt x="0" y="283434"/>
                    <a:pt x="0" y="261381"/>
                  </a:cubicBezTo>
                  <a:lnTo>
                    <a:pt x="0" y="83148"/>
                  </a:lnTo>
                  <a:cubicBezTo>
                    <a:pt x="0" y="61096"/>
                    <a:pt x="8760" y="39947"/>
                    <a:pt x="24354" y="24354"/>
                  </a:cubicBezTo>
                  <a:cubicBezTo>
                    <a:pt x="39947" y="8760"/>
                    <a:pt x="61096" y="0"/>
                    <a:pt x="83148" y="0"/>
                  </a:cubicBez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1250663" cy="3540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37247" y="3013152"/>
            <a:ext cx="4531519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Introduction &amp; Motivation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769694" y="3013152"/>
            <a:ext cx="474861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089144" y="5061769"/>
            <a:ext cx="1789212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7419529" y="7093114"/>
            <a:ext cx="3448943" cy="885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Comparison With Manual system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403392" y="5061769"/>
            <a:ext cx="344894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Methodology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37116" y="7312189"/>
            <a:ext cx="2093268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Conclusion 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402545" y="7312189"/>
            <a:ext cx="6008755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Gantt Chart &amp; Tech Stack 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82451" y="5061769"/>
            <a:ext cx="344894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Objectives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59279" y="3013152"/>
            <a:ext cx="3448943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Literature review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3" id="43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32737" y="230196"/>
            <a:ext cx="14084160" cy="2435126"/>
            <a:chOff x="0" y="0"/>
            <a:chExt cx="18778880" cy="324683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3246817"/>
            </a:xfrm>
            <a:custGeom>
              <a:avLst/>
              <a:gdLst/>
              <a:ahLst/>
              <a:cxnLst/>
              <a:rect r="r" b="b" t="t" l="l"/>
              <a:pathLst>
                <a:path h="3246817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3246817"/>
                  </a:lnTo>
                  <a:lnTo>
                    <a:pt x="0" y="32468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5616" r="0" b="-29778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32754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1.INTRODUCTION &amp; MOTIVATION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0528784" y="1933616"/>
            <a:ext cx="7190308" cy="7534186"/>
          </a:xfrm>
          <a:custGeom>
            <a:avLst/>
            <a:gdLst/>
            <a:ahLst/>
            <a:cxnLst/>
            <a:rect r="r" b="b" t="t" l="l"/>
            <a:pathLst>
              <a:path h="7534186" w="7190308">
                <a:moveTo>
                  <a:pt x="0" y="0"/>
                </a:moveTo>
                <a:lnTo>
                  <a:pt x="7190307" y="0"/>
                </a:lnTo>
                <a:lnTo>
                  <a:pt x="7190307" y="7534186"/>
                </a:lnTo>
                <a:lnTo>
                  <a:pt x="0" y="75341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782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18710" y="3521623"/>
            <a:ext cx="8995611" cy="3967553"/>
            <a:chOff x="0" y="0"/>
            <a:chExt cx="2369214" cy="104495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369214" cy="1044952"/>
            </a:xfrm>
            <a:custGeom>
              <a:avLst/>
              <a:gdLst/>
              <a:ahLst/>
              <a:cxnLst/>
              <a:rect r="r" b="b" t="t" l="l"/>
              <a:pathLst>
                <a:path h="1044952" w="2369214">
                  <a:moveTo>
                    <a:pt x="0" y="0"/>
                  </a:moveTo>
                  <a:lnTo>
                    <a:pt x="2369214" y="0"/>
                  </a:lnTo>
                  <a:lnTo>
                    <a:pt x="2369214" y="1044952"/>
                  </a:lnTo>
                  <a:lnTo>
                    <a:pt x="0" y="1044952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369214" cy="10544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928307" y="4848394"/>
            <a:ext cx="8376416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•Tracking</a:t>
            </a: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goods from purchase through to sale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•Cover</a:t>
            </a: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 stock orderi</a:t>
            </a: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ng, storage &amp; repl</a:t>
            </a: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enishment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•Core for shops, supermarkets &amp; warehouses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•Directly affec</a:t>
            </a: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ts revenue and customer satisfaction</a:t>
            </a:r>
          </a:p>
          <a:p>
            <a:pPr algn="l">
              <a:lnSpc>
                <a:spcPts val="3456"/>
              </a:lnSpc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2248637" y="4142627"/>
            <a:ext cx="5735757" cy="447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6"/>
              </a:lnSpc>
            </a:pPr>
            <a:r>
              <a:rPr lang="en-US" sz="288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What is Inventory Management?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1312" y="535169"/>
            <a:ext cx="14084160" cy="1632942"/>
            <a:chOff x="0" y="0"/>
            <a:chExt cx="18778880" cy="21772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2177245"/>
            </a:xfrm>
            <a:custGeom>
              <a:avLst/>
              <a:gdLst/>
              <a:ahLst/>
              <a:cxnLst/>
              <a:rect r="r" b="b" t="t" l="l"/>
              <a:pathLst>
                <a:path h="2177245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2177245"/>
                  </a:lnTo>
                  <a:lnTo>
                    <a:pt x="0" y="2177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037" r="0" b="-150162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2205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Introduction &amp; Motivation (cont'd)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1312" y="2739611"/>
            <a:ext cx="8489266" cy="1478782"/>
            <a:chOff x="0" y="0"/>
            <a:chExt cx="2235856" cy="38947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35856" cy="389473"/>
            </a:xfrm>
            <a:custGeom>
              <a:avLst/>
              <a:gdLst/>
              <a:ahLst/>
              <a:cxnLst/>
              <a:rect r="r" b="b" t="t" l="l"/>
              <a:pathLst>
                <a:path h="389473" w="2235856">
                  <a:moveTo>
                    <a:pt x="0" y="0"/>
                  </a:moveTo>
                  <a:lnTo>
                    <a:pt x="2235856" y="0"/>
                  </a:lnTo>
                  <a:lnTo>
                    <a:pt x="2235856" y="389473"/>
                  </a:lnTo>
                  <a:lnTo>
                    <a:pt x="0" y="389473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235856" cy="398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4664223"/>
            <a:ext cx="8650899" cy="1446678"/>
            <a:chOff x="0" y="0"/>
            <a:chExt cx="2278426" cy="3810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78426" cy="381018"/>
            </a:xfrm>
            <a:custGeom>
              <a:avLst/>
              <a:gdLst/>
              <a:ahLst/>
              <a:cxnLst/>
              <a:rect r="r" b="b" t="t" l="l"/>
              <a:pathLst>
                <a:path h="381018" w="2278426">
                  <a:moveTo>
                    <a:pt x="0" y="0"/>
                  </a:moveTo>
                  <a:lnTo>
                    <a:pt x="2278426" y="0"/>
                  </a:lnTo>
                  <a:lnTo>
                    <a:pt x="2278426" y="381018"/>
                  </a:lnTo>
                  <a:lnTo>
                    <a:pt x="0" y="381018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2278426" cy="390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1312" y="4664223"/>
            <a:ext cx="8489266" cy="1446678"/>
            <a:chOff x="0" y="0"/>
            <a:chExt cx="2235856" cy="3810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35856" cy="381018"/>
            </a:xfrm>
            <a:custGeom>
              <a:avLst/>
              <a:gdLst/>
              <a:ahLst/>
              <a:cxnLst/>
              <a:rect r="r" b="b" t="t" l="l"/>
              <a:pathLst>
                <a:path h="381018" w="2235856">
                  <a:moveTo>
                    <a:pt x="0" y="0"/>
                  </a:moveTo>
                  <a:lnTo>
                    <a:pt x="2235856" y="0"/>
                  </a:lnTo>
                  <a:lnTo>
                    <a:pt x="2235856" y="381018"/>
                  </a:lnTo>
                  <a:lnTo>
                    <a:pt x="0" y="381018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2235856" cy="39054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144000" y="2739611"/>
            <a:ext cx="8650899" cy="1478782"/>
            <a:chOff x="0" y="0"/>
            <a:chExt cx="2278426" cy="3894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78426" cy="389473"/>
            </a:xfrm>
            <a:custGeom>
              <a:avLst/>
              <a:gdLst/>
              <a:ahLst/>
              <a:cxnLst/>
              <a:rect r="r" b="b" t="t" l="l"/>
              <a:pathLst>
                <a:path h="389473" w="2278426">
                  <a:moveTo>
                    <a:pt x="0" y="0"/>
                  </a:moveTo>
                  <a:lnTo>
                    <a:pt x="2278426" y="0"/>
                  </a:lnTo>
                  <a:lnTo>
                    <a:pt x="2278426" y="389473"/>
                  </a:lnTo>
                  <a:lnTo>
                    <a:pt x="0" y="389473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278426" cy="3989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785288" y="6634775"/>
            <a:ext cx="8490003" cy="3008111"/>
            <a:chOff x="0" y="0"/>
            <a:chExt cx="2236050" cy="79226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36050" cy="792260"/>
            </a:xfrm>
            <a:custGeom>
              <a:avLst/>
              <a:gdLst/>
              <a:ahLst/>
              <a:cxnLst/>
              <a:rect r="r" b="b" t="t" l="l"/>
              <a:pathLst>
                <a:path h="792260" w="2236050">
                  <a:moveTo>
                    <a:pt x="0" y="0"/>
                  </a:moveTo>
                  <a:lnTo>
                    <a:pt x="2236050" y="0"/>
                  </a:lnTo>
                  <a:lnTo>
                    <a:pt x="2236050" y="792260"/>
                  </a:lnTo>
                  <a:lnTo>
                    <a:pt x="0" y="792260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2236050" cy="8017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61312" y="2050678"/>
            <a:ext cx="9662302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76"/>
              </a:lnSpc>
            </a:pPr>
            <a:r>
              <a:rPr lang="en-US" sz="2980" b="true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Who Are SMEs and What Do They Face?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9316" y="2894419"/>
            <a:ext cx="7353257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886" indent="-310943" lvl="1">
              <a:lnSpc>
                <a:spcPts val="3456"/>
              </a:lnSpc>
              <a:buFont typeface="Arial"/>
              <a:buChar char="•"/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Small Shops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Limited staff; rely on memory or paper logs</a:t>
            </a:r>
          </a:p>
          <a:p>
            <a:pPr algn="l">
              <a:lnSpc>
                <a:spcPts val="3456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9350904" y="2884894"/>
            <a:ext cx="8237091" cy="17422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441" indent="-305720" lvl="1">
              <a:lnSpc>
                <a:spcPts val="3398"/>
              </a:lnSpc>
              <a:buFont typeface="Arial"/>
              <a:buChar char="•"/>
            </a:pPr>
            <a:r>
              <a:rPr lang="en-US" b="true" sz="2832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Warehouses</a:t>
            </a:r>
          </a:p>
          <a:p>
            <a:pPr algn="l">
              <a:lnSpc>
                <a:spcPts val="3398"/>
              </a:lnSpc>
            </a:pPr>
            <a:r>
              <a:rPr lang="en-US" sz="283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Large volumes; manual tracking causes costly errors</a:t>
            </a:r>
          </a:p>
          <a:p>
            <a:pPr algn="l">
              <a:lnSpc>
                <a:spcPts val="3398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570224" y="4779507"/>
            <a:ext cx="9662302" cy="1323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1886" indent="-310943" lvl="1">
              <a:lnSpc>
                <a:spcPts val="3456"/>
              </a:lnSpc>
              <a:buFont typeface="Arial"/>
              <a:buChar char="•"/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Supermarkets</a:t>
            </a:r>
          </a:p>
          <a:p>
            <a:pPr algn="l">
              <a:lnSpc>
                <a:spcPts val="3456"/>
              </a:lnSpc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 product variety; expiry tracking is critical</a:t>
            </a:r>
          </a:p>
          <a:p>
            <a:pPr algn="l">
              <a:lnSpc>
                <a:spcPts val="3456"/>
              </a:lnSpc>
            </a:pPr>
          </a:p>
        </p:txBody>
      </p:sp>
      <p:sp>
        <p:nvSpPr>
          <p:cNvPr name="TextBox 25" id="25"/>
          <p:cNvSpPr txBox="true"/>
          <p:nvPr/>
        </p:nvSpPr>
        <p:spPr>
          <a:xfrm rot="0">
            <a:off x="9144000" y="4769982"/>
            <a:ext cx="9508100" cy="881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1961" indent="-305981" lvl="1">
              <a:lnSpc>
                <a:spcPts val="3401"/>
              </a:lnSpc>
              <a:buFont typeface="Arial"/>
              <a:buChar char="•"/>
            </a:pPr>
            <a:r>
              <a:rPr lang="en-US" b="true" sz="2834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Wholesalers</a:t>
            </a:r>
          </a:p>
          <a:p>
            <a:pPr algn="l">
              <a:lnSpc>
                <a:spcPts val="3401"/>
              </a:lnSpc>
            </a:pPr>
            <a:r>
              <a:rPr lang="en-US" sz="283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Seasonal demand spikes lead to over/under-stocking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605945" y="7033931"/>
            <a:ext cx="8531572" cy="2200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56"/>
              </a:lnSpc>
              <a:spcBef>
                <a:spcPct val="0"/>
              </a:spcBef>
            </a:pPr>
            <a:r>
              <a:rPr lang="en-US" b="true" sz="288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Why StockSmart is the Answer:</a:t>
            </a:r>
          </a:p>
          <a:p>
            <a:pPr algn="l" marL="621886" indent="-310943" lvl="1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Centralized system – one dashboard for all stock</a:t>
            </a:r>
          </a:p>
          <a:p>
            <a:pPr algn="l" marL="621886" indent="-310943" lvl="1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Real-time updates – no delays or manual entry</a:t>
            </a:r>
          </a:p>
          <a:p>
            <a:pPr algn="l" marL="621886" indent="-310943" lvl="1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Affordable and easy to learn</a:t>
            </a:r>
          </a:p>
          <a:p>
            <a:pPr algn="l" marL="621886" indent="-310943" lvl="1">
              <a:lnSpc>
                <a:spcPts val="3456"/>
              </a:lnSpc>
              <a:buFont typeface="Arial"/>
              <a:buChar char="•"/>
            </a:pPr>
            <a:r>
              <a:rPr lang="en-US" sz="288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Designed specifically for SME workflows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28" id="28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1312" y="398426"/>
            <a:ext cx="14084160" cy="831880"/>
            <a:chOff x="0" y="0"/>
            <a:chExt cx="1877888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0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2.PROBLEM STATEMENT 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594756" y="3064012"/>
            <a:ext cx="11098487" cy="5256603"/>
            <a:chOff x="0" y="0"/>
            <a:chExt cx="2923058" cy="13844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23058" cy="1384455"/>
            </a:xfrm>
            <a:custGeom>
              <a:avLst/>
              <a:gdLst/>
              <a:ahLst/>
              <a:cxnLst/>
              <a:rect r="r" b="b" t="t" l="l"/>
              <a:pathLst>
                <a:path h="1384455" w="2923058">
                  <a:moveTo>
                    <a:pt x="0" y="0"/>
                  </a:moveTo>
                  <a:lnTo>
                    <a:pt x="2923058" y="0"/>
                  </a:lnTo>
                  <a:lnTo>
                    <a:pt x="2923058" y="1384455"/>
                  </a:lnTo>
                  <a:lnTo>
                    <a:pt x="0" y="1384455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923058" cy="1393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864573" y="1998751"/>
            <a:ext cx="8558854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0"/>
              </a:lnSpc>
            </a:pPr>
            <a:r>
              <a:rPr lang="en-US" sz="3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Challenges Faced by SMEs Today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396776" y="3420381"/>
            <a:ext cx="11494457" cy="4524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9427" indent="-319713" lvl="1">
              <a:lnSpc>
                <a:spcPts val="3554"/>
              </a:lnSpc>
              <a:buFont typeface="Arial"/>
              <a:buChar char="•"/>
            </a:pPr>
            <a:r>
              <a:rPr lang="en-US" b="true" sz="29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Stock Shortages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Unable to meet customer demand, resulting in revenue loss</a:t>
            </a:r>
          </a:p>
          <a:p>
            <a:pPr algn="l" marL="639427" indent="-319713" lvl="1">
              <a:lnSpc>
                <a:spcPts val="3554"/>
              </a:lnSpc>
              <a:buFont typeface="Arial"/>
              <a:buChar char="•"/>
            </a:pPr>
            <a:r>
              <a:rPr lang="en-US" b="true" sz="29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Overstocking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Excess inventory increases storage costs and blocks capital</a:t>
            </a:r>
          </a:p>
          <a:p>
            <a:pPr algn="l" marL="639427" indent="-319713" lvl="1">
              <a:lnSpc>
                <a:spcPts val="3554"/>
              </a:lnSpc>
              <a:buFont typeface="Arial"/>
              <a:buChar char="•"/>
            </a:pPr>
            <a:r>
              <a:rPr lang="en-US" b="true" sz="29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Expired Products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Lack of tracking leads to wastage and financial loss</a:t>
            </a:r>
          </a:p>
          <a:p>
            <a:pPr algn="l" marL="639427" indent="-319713" lvl="1">
              <a:lnSpc>
                <a:spcPts val="3554"/>
              </a:lnSpc>
              <a:buFont typeface="Arial"/>
              <a:buChar char="•"/>
            </a:pPr>
            <a:r>
              <a:rPr lang="en-US" b="true" sz="29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No Real-Time Visibility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Stock levels cannot be monitored instantly or accurately</a:t>
            </a:r>
          </a:p>
          <a:p>
            <a:pPr algn="l" marL="639427" indent="-319713" lvl="1">
              <a:lnSpc>
                <a:spcPts val="3554"/>
              </a:lnSpc>
              <a:buFont typeface="Arial"/>
              <a:buChar char="•"/>
            </a:pPr>
            <a:r>
              <a:rPr lang="en-US" b="true" sz="2961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Manual Record Errors</a:t>
            </a:r>
          </a:p>
          <a:p>
            <a:pPr algn="l">
              <a:lnSpc>
                <a:spcPts val="3554"/>
              </a:lnSpc>
            </a:pPr>
            <a:r>
              <a:rPr lang="en-US" sz="296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Paper and spreadsheets increase chances of human mistakes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12" id="12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6953" y="2447925"/>
            <a:ext cx="17495353" cy="546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Built a w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eb-based system replacing error-prone spreadsheets with digital records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Includes product tracking, sales management, and user management modules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Demonstrated improved inventory accuracy and reduced operational cost for SMEs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Developed and tested on a single SME — limited generalizability across sectors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the iterative waterfall model — less flexible for changing business requirements</a:t>
            </a:r>
          </a:p>
          <a:p>
            <a:pPr algn="l" marL="604519" indent="-302260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Does not include automated expiry alerts or demand forecasting functionality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430246" y="1417141"/>
            <a:ext cx="17934116" cy="2118717"/>
            <a:chOff x="0" y="0"/>
            <a:chExt cx="24398284" cy="28823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98284" cy="2882372"/>
            </a:xfrm>
            <a:custGeom>
              <a:avLst/>
              <a:gdLst/>
              <a:ahLst/>
              <a:cxnLst/>
              <a:rect r="r" b="b" t="t" l="l"/>
              <a:pathLst>
                <a:path h="2882372" w="24398284">
                  <a:moveTo>
                    <a:pt x="0" y="0"/>
                  </a:moveTo>
                  <a:lnTo>
                    <a:pt x="24398284" y="0"/>
                  </a:lnTo>
                  <a:lnTo>
                    <a:pt x="24398284" y="2882372"/>
                  </a:lnTo>
                  <a:lnTo>
                    <a:pt x="0" y="288237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7705" r="23031" b="-4618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4398284" cy="291096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u="sng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Paper 1:Web-Based Inventory Platform for SMEs (Source: Agboola, Malgwi, Mahmud &amp; Oguntoye (2022))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-116953" y="6511460"/>
            <a:ext cx="17729259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entifies and ranks Critical Success Factors (CSFs) for ERP implementation in supply chains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ISM and MICMAC analysis to model the interdependence between CSFs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Confirms ERP plays a vital role in organizational growth and supply chain sustainability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ERP systems are extremely costly and complex — impractical for small businesses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Long implementation timelines and need for trained IT staff limit accessibility for SMEs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focuses on large organizations — findings do not fully translate to small retail shops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7" id="7"/>
          <p:cNvGrpSpPr/>
          <p:nvPr/>
        </p:nvGrpSpPr>
        <p:grpSpPr>
          <a:xfrm rot="0">
            <a:off x="361312" y="398426"/>
            <a:ext cx="14203778" cy="831880"/>
            <a:chOff x="0" y="0"/>
            <a:chExt cx="18938370" cy="110917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3837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938370">
                  <a:moveTo>
                    <a:pt x="0" y="0"/>
                  </a:moveTo>
                  <a:lnTo>
                    <a:pt x="18938370" y="0"/>
                  </a:lnTo>
                  <a:lnTo>
                    <a:pt x="1893837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842" b="-279893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893837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3.LITERATURE REVIEW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61312" y="5743575"/>
            <a:ext cx="18003050" cy="1329299"/>
            <a:chOff x="0" y="0"/>
            <a:chExt cx="24004067" cy="177239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4004067" cy="1772390"/>
            </a:xfrm>
            <a:custGeom>
              <a:avLst/>
              <a:gdLst/>
              <a:ahLst/>
              <a:cxnLst/>
              <a:rect r="r" b="b" t="t" l="l"/>
              <a:pathLst>
                <a:path h="1772390" w="24004067">
                  <a:moveTo>
                    <a:pt x="0" y="0"/>
                  </a:moveTo>
                  <a:lnTo>
                    <a:pt x="24004067" y="0"/>
                  </a:lnTo>
                  <a:lnTo>
                    <a:pt x="24004067" y="1772390"/>
                  </a:lnTo>
                  <a:lnTo>
                    <a:pt x="0" y="17723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5157" r="21767" b="-13773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24004067" cy="180097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u="sng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Paper 2: ERP Implementation for Supply Chain Management (Source: Qureshi (2022))</a:t>
              </a: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AutoShape 13" id="13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52400" y="5829300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-9525" y="150499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167404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9" y="6376608"/>
            <a:ext cx="17729259" cy="426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Mac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hine learning-based inventory management system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Uses forecasting (Prophet), pattern mining (Apriori), prediction (Random Forest)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Achieves high accuracy in demand prediction (~94%)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Limitations: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Requires large historical datasets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High computational complexity</a:t>
            </a:r>
          </a:p>
          <a:p>
            <a:pPr algn="l" marL="604518" indent="-302259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Does not address expiry-date or batch-level tracking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545010" y="398426"/>
            <a:ext cx="14203778" cy="831880"/>
            <a:chOff x="0" y="0"/>
            <a:chExt cx="18938370" cy="110917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93837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938370">
                  <a:moveTo>
                    <a:pt x="0" y="0"/>
                  </a:moveTo>
                  <a:lnTo>
                    <a:pt x="18938370" y="0"/>
                  </a:lnTo>
                  <a:lnTo>
                    <a:pt x="1893837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79892" r="842" b="-279893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93837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LITERATURE REVIEW (cont'd)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1312" y="5583060"/>
            <a:ext cx="18002971" cy="1147167"/>
            <a:chOff x="0" y="0"/>
            <a:chExt cx="24003961" cy="152955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003961" cy="1529548"/>
            </a:xfrm>
            <a:custGeom>
              <a:avLst/>
              <a:gdLst/>
              <a:ahLst/>
              <a:cxnLst/>
              <a:rect r="r" b="b" t="t" l="l"/>
              <a:pathLst>
                <a:path h="1529548" w="24003961">
                  <a:moveTo>
                    <a:pt x="0" y="0"/>
                  </a:moveTo>
                  <a:lnTo>
                    <a:pt x="24003961" y="0"/>
                  </a:lnTo>
                  <a:lnTo>
                    <a:pt x="24003961" y="1529548"/>
                  </a:lnTo>
                  <a:lnTo>
                    <a:pt x="0" y="1529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967" r="21767" b="-17548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4003961" cy="1558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Paper 4: AI-Based Inventory System (Source: Abdul Majid K &amp; Kavyashree G.J (2025)</a:t>
              </a:r>
            </a:p>
            <a:p>
              <a:pPr algn="l">
                <a:lnSpc>
                  <a:spcPts val="3840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1312" y="1460258"/>
            <a:ext cx="16897988" cy="1180450"/>
            <a:chOff x="0" y="0"/>
            <a:chExt cx="22530651" cy="157393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530651" cy="1573924"/>
            </a:xfrm>
            <a:custGeom>
              <a:avLst/>
              <a:gdLst/>
              <a:ahLst/>
              <a:cxnLst/>
              <a:rect r="r" b="b" t="t" l="l"/>
              <a:pathLst>
                <a:path h="1573924" w="22530651">
                  <a:moveTo>
                    <a:pt x="0" y="0"/>
                  </a:moveTo>
                  <a:lnTo>
                    <a:pt x="22530651" y="0"/>
                  </a:lnTo>
                  <a:lnTo>
                    <a:pt x="22530651" y="1573924"/>
                  </a:lnTo>
                  <a:lnTo>
                    <a:pt x="0" y="157392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7244" r="16651" b="-16771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530651" cy="16025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b="true" sz="3200" u="sng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Paper 3: IoT-Based Inventory System (Source: Ghulam Haider &amp; Edward Lucas (2024)</a:t>
              </a: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79" y="2109408"/>
            <a:ext cx="17729259" cy="421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IoT-bas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 automated inventory tracking system</a:t>
            </a: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Uses sensors for real-time stock monitoring</a:t>
            </a: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Reduces manual inventory effort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Limitations:</a:t>
            </a: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Requires IoT hardware (sensors/RFID)</a:t>
            </a: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High setup and maintenance cost</a:t>
            </a: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Technical complexity for SMEs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</a:pPr>
          </a:p>
        </p:txBody>
      </p:sp>
      <p:sp>
        <p:nvSpPr>
          <p:cNvPr name="AutoShape 13" id="13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0" y="5509248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6" id="16"/>
          <p:cNvSpPr/>
          <p:nvPr/>
        </p:nvSpPr>
        <p:spPr>
          <a:xfrm flipH="false" flipV="false" rot="0">
            <a:off x="15167404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84364" y="398426"/>
            <a:ext cx="14084160" cy="831880"/>
            <a:chOff x="0" y="0"/>
            <a:chExt cx="18778880" cy="1109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694" r="0" b="-29469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4.OBJECTIVES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5790975" y="5730333"/>
            <a:ext cx="8577205" cy="720947"/>
            <a:chOff x="0" y="0"/>
            <a:chExt cx="11436274" cy="9612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436278" cy="961260"/>
            </a:xfrm>
            <a:custGeom>
              <a:avLst/>
              <a:gdLst/>
              <a:ahLst/>
              <a:cxnLst/>
              <a:rect r="r" b="b" t="t" l="l"/>
              <a:pathLst>
                <a:path h="961260" w="11436278">
                  <a:moveTo>
                    <a:pt x="0" y="0"/>
                  </a:moveTo>
                  <a:lnTo>
                    <a:pt x="11436278" y="0"/>
                  </a:lnTo>
                  <a:lnTo>
                    <a:pt x="11436278" y="961260"/>
                  </a:lnTo>
                  <a:lnTo>
                    <a:pt x="0" y="9612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1147" r="0" b="-2511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1436274" cy="98031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Contrast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870567" y="9947634"/>
            <a:ext cx="32599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‹#›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74632" y="1933463"/>
            <a:ext cx="7315200" cy="2078890"/>
            <a:chOff x="0" y="0"/>
            <a:chExt cx="9753600" cy="2771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53600" cy="2771853"/>
            </a:xfrm>
            <a:custGeom>
              <a:avLst/>
              <a:gdLst/>
              <a:ahLst/>
              <a:cxnLst/>
              <a:rect r="r" b="b" t="t" l="l"/>
              <a:pathLst>
                <a:path h="2771853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2771853"/>
                  </a:lnTo>
                  <a:lnTo>
                    <a:pt x="0" y="27718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-3" t="0" r="-3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478304" y="428703"/>
              <a:ext cx="8796992" cy="23431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Devel</a:t>
              </a: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op a simple and centralized inventory management</a:t>
              </a:r>
            </a:p>
            <a:p>
              <a:pPr algn="ctr">
                <a:lnSpc>
                  <a:spcPts val="335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system for SMEs</a:t>
              </a:r>
            </a:p>
            <a:p>
              <a:pPr algn="ctr">
                <a:lnSpc>
                  <a:spcPts val="38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944100" y="1933616"/>
            <a:ext cx="7315200" cy="2078736"/>
          </a:xfrm>
          <a:custGeom>
            <a:avLst/>
            <a:gdLst/>
            <a:ahLst/>
            <a:cxnLst/>
            <a:rect r="r" b="b" t="t" l="l"/>
            <a:pathLst>
              <a:path h="2078736" w="7315200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302828" y="2444611"/>
            <a:ext cx="6597744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automated alerts for low stock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product expiry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774632" y="4372545"/>
            <a:ext cx="7315200" cy="2078736"/>
          </a:xfrm>
          <a:custGeom>
            <a:avLst/>
            <a:gdLst/>
            <a:ahLst/>
            <a:cxnLst/>
            <a:rect r="r" b="b" t="t" l="l"/>
            <a:pathLst>
              <a:path h="2078736" w="7315200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4689156"/>
            <a:ext cx="6597744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Enable real-time inventory tracking, updating,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transaction recording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774632" y="6841806"/>
            <a:ext cx="7315200" cy="2078736"/>
          </a:xfrm>
          <a:custGeom>
            <a:avLst/>
            <a:gdLst/>
            <a:ahLst/>
            <a:cxnLst/>
            <a:rect r="r" b="b" t="t" l="l"/>
            <a:pathLst>
              <a:path h="2078736" w="7315200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28700" y="7127709"/>
            <a:ext cx="6597744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Reduce l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osses from overstocking, stock shortages,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expired products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9944100" y="4372545"/>
            <a:ext cx="7315200" cy="2078736"/>
          </a:xfrm>
          <a:custGeom>
            <a:avLst/>
            <a:gdLst/>
            <a:ahLst/>
            <a:cxnLst/>
            <a:rect r="r" b="b" t="t" l="l"/>
            <a:pathLst>
              <a:path h="2078736" w="7315200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0302828" y="4689156"/>
            <a:ext cx="6597744" cy="176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Improve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accuracy and operational efficiency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in inventory management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944100" y="6841806"/>
            <a:ext cx="7315200" cy="2078736"/>
          </a:xfrm>
          <a:custGeom>
            <a:avLst/>
            <a:gdLst/>
            <a:ahLst/>
            <a:cxnLst/>
            <a:rect r="r" b="b" t="t" l="l"/>
            <a:pathLst>
              <a:path h="2078736" w="7315200">
                <a:moveTo>
                  <a:pt x="0" y="0"/>
                </a:moveTo>
                <a:lnTo>
                  <a:pt x="7315200" y="0"/>
                </a:lnTo>
                <a:lnTo>
                  <a:pt x="7315200" y="2078736"/>
                </a:lnTo>
                <a:lnTo>
                  <a:pt x="0" y="20787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302828" y="7337259"/>
            <a:ext cx="6597744" cy="1343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overh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ead costs for businesses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through automation</a:t>
            </a:r>
          </a:p>
          <a:p>
            <a:pPr algn="ctr">
              <a:lnSpc>
                <a:spcPts val="3839"/>
              </a:lnSpc>
              <a:spcBef>
                <a:spcPct val="0"/>
              </a:spcBef>
            </a:pPr>
          </a:p>
        </p:txBody>
      </p:sp>
      <p:sp>
        <p:nvSpPr>
          <p:cNvPr name="AutoShape 22" id="22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0257" y="398426"/>
            <a:ext cx="14084160" cy="831880"/>
            <a:chOff x="0" y="0"/>
            <a:chExt cx="18778880" cy="110917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78880" cy="1109168"/>
            </a:xfrm>
            <a:custGeom>
              <a:avLst/>
              <a:gdLst/>
              <a:ahLst/>
              <a:cxnLst/>
              <a:rect r="r" b="b" t="t" l="l"/>
              <a:pathLst>
                <a:path h="1109168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109168"/>
                  </a:lnTo>
                  <a:lnTo>
                    <a:pt x="0" y="11091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94694" r="0" b="-29469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778880" cy="11377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5.METHODOLOGY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257" y="2136743"/>
            <a:ext cx="12581613" cy="6819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1 — Requirement Analysis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Analyze common inventory challenges faced by SMEs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key functional requirements for the system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2 — Literature Review &amp; Gap Analysis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Study 4 existing inventory management systems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Identify features missing from current solutions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3 — System Design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Design database schema, user flow, and UI wireframes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Define core modules: inventory, alerts, dashboard, reports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4 — Feasibility Analysis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Evaluate technical, operational, and economic feasibility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STEP 5 — Development &amp; Testing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Build and test the system for performance and accuracy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Validate with sample data from real SME scenarios</a:t>
            </a:r>
          </a:p>
        </p:txBody>
      </p:sp>
      <p:sp>
        <p:nvSpPr>
          <p:cNvPr name="AutoShape 6" id="6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9113" y="640179"/>
            <a:ext cx="14203778" cy="1147167"/>
            <a:chOff x="0" y="0"/>
            <a:chExt cx="18938370" cy="15295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38370" cy="1529548"/>
            </a:xfrm>
            <a:custGeom>
              <a:avLst/>
              <a:gdLst/>
              <a:ahLst/>
              <a:cxnLst/>
              <a:rect r="r" b="b" t="t" l="l"/>
              <a:pathLst>
                <a:path h="1529548" w="18938370">
                  <a:moveTo>
                    <a:pt x="0" y="0"/>
                  </a:moveTo>
                  <a:lnTo>
                    <a:pt x="18938370" y="0"/>
                  </a:lnTo>
                  <a:lnTo>
                    <a:pt x="18938370" y="1529548"/>
                  </a:lnTo>
                  <a:lnTo>
                    <a:pt x="0" y="152954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2967" r="842" b="-175484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938370" cy="1558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6.FEASIBILITY</a:t>
              </a: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06074" y="2501721"/>
            <a:ext cx="12581613" cy="712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Technical: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Tried and tested tech stack with all necessary documentation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Knowhow of much of the tech stack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Simple implementation for SMEs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Mature libraries and APIs for sub-programs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Operational:</a:t>
            </a:r>
          </a:p>
          <a:p>
            <a:pPr algn="l">
              <a:lnSpc>
                <a:spcPts val="287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Minimal costs associated with operation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Real time inventory-tracking keeps costs low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Integration with E-paper based price labels will reduce operational costs for clients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Economic: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Self-Hosting will eliminate need for VPS, public ip, and/or domain, keeping costs low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“maintainence” will be carried out till bugs are fixed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Open-Source software results in no costs for capable clients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1758771"/>
            <a:ext cx="1517692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 feasibility analysis has been divided into three distinct sections:</a:t>
            </a:r>
          </a:p>
        </p:txBody>
      </p:sp>
      <p:sp>
        <p:nvSpPr>
          <p:cNvPr name="AutoShape 7" id="7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692120" y="1848583"/>
            <a:ext cx="13798107" cy="8254211"/>
          </a:xfrm>
          <a:custGeom>
            <a:avLst/>
            <a:gdLst/>
            <a:ahLst/>
            <a:cxnLst/>
            <a:rect r="r" b="b" t="t" l="l"/>
            <a:pathLst>
              <a:path h="8254211" w="13798107">
                <a:moveTo>
                  <a:pt x="0" y="0"/>
                </a:moveTo>
                <a:lnTo>
                  <a:pt x="13798107" y="0"/>
                </a:lnTo>
                <a:lnTo>
                  <a:pt x="13798107" y="8254212"/>
                </a:lnTo>
                <a:lnTo>
                  <a:pt x="0" y="825421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80" t="-2347" r="-1361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351787" y="654285"/>
            <a:ext cx="14203778" cy="2118717"/>
            <a:chOff x="0" y="0"/>
            <a:chExt cx="18938370" cy="282495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38370" cy="2824941"/>
            </a:xfrm>
            <a:custGeom>
              <a:avLst/>
              <a:gdLst/>
              <a:ahLst/>
              <a:cxnLst/>
              <a:rect r="r" b="b" t="t" l="l"/>
              <a:pathLst>
                <a:path h="2824941" w="18938370">
                  <a:moveTo>
                    <a:pt x="0" y="0"/>
                  </a:moveTo>
                  <a:lnTo>
                    <a:pt x="18938370" y="0"/>
                  </a:lnTo>
                  <a:lnTo>
                    <a:pt x="18938370" y="2824941"/>
                  </a:lnTo>
                  <a:lnTo>
                    <a:pt x="0" y="282494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895" r="842" b="-49159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8938370" cy="28535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7.GANTT CHART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AutoShape 7" id="7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10257" y="604639"/>
            <a:ext cx="14203778" cy="1632942"/>
            <a:chOff x="0" y="0"/>
            <a:chExt cx="18938370" cy="21772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938370" cy="2177245"/>
            </a:xfrm>
            <a:custGeom>
              <a:avLst/>
              <a:gdLst/>
              <a:ahLst/>
              <a:cxnLst/>
              <a:rect r="r" b="b" t="t" l="l"/>
              <a:pathLst>
                <a:path h="2177245" w="18938370">
                  <a:moveTo>
                    <a:pt x="0" y="0"/>
                  </a:moveTo>
                  <a:lnTo>
                    <a:pt x="18938370" y="0"/>
                  </a:lnTo>
                  <a:lnTo>
                    <a:pt x="18938370" y="2177245"/>
                  </a:lnTo>
                  <a:lnTo>
                    <a:pt x="0" y="217724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587" r="842" b="-935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938370" cy="22058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TECH STACK</a:t>
              </a:r>
            </a:p>
            <a:p>
              <a:pPr algn="l">
                <a:lnSpc>
                  <a:spcPts val="3840"/>
                </a:lnSpc>
              </a:pPr>
            </a:p>
            <a:p>
              <a:pPr algn="l">
                <a:lnSpc>
                  <a:spcPts val="3840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10257" y="1846702"/>
            <a:ext cx="13644597" cy="7269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b="true" sz="31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Selected the </a:t>
            </a:r>
            <a:r>
              <a:rPr lang="en-US" b="true" sz="31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LAMP Tech Stack based on Simplicity and familiarity 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L:</a:t>
            </a: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Linux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headless linux ISO or a docker image will be used to run the rest of the stack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A: </a:t>
            </a: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Apache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 will be using an apache web server like XAMPP for development locally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M: MySQL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MySQL will be used for CRUD operations involving the products and their inventorying</a:t>
            </a: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2879"/>
              </a:lnSpc>
            </a:pPr>
          </a:p>
          <a:p>
            <a:pPr algn="l">
              <a:lnSpc>
                <a:spcPts val="3359"/>
              </a:lnSpc>
            </a:pPr>
            <a:r>
              <a:rPr lang="en-US" b="true" sz="2799" u="sng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P: PHP</a:t>
            </a:r>
          </a:p>
          <a:p>
            <a:pPr algn="l" marL="518160" indent="-259080" lvl="1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Laravel, a PHP framework will be used for backend and integration with MySQL</a:t>
            </a:r>
          </a:p>
        </p:txBody>
      </p:sp>
      <p:sp>
        <p:nvSpPr>
          <p:cNvPr name="AutoShape 6" id="6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1312" y="304486"/>
            <a:ext cx="14084160" cy="1143273"/>
            <a:chOff x="0" y="0"/>
            <a:chExt cx="18778880" cy="1524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78880" cy="1524356"/>
            </a:xfrm>
            <a:custGeom>
              <a:avLst/>
              <a:gdLst/>
              <a:ahLst/>
              <a:cxnLst/>
              <a:rect r="r" b="b" t="t" l="l"/>
              <a:pathLst>
                <a:path h="1524356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524356"/>
                  </a:lnTo>
                  <a:lnTo>
                    <a:pt x="0" y="15243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58" r="0" b="-1764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778880" cy="1552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8.COMPARISON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361312" y="1933616"/>
          <a:ext cx="17095930" cy="6421734"/>
        </p:xfrm>
        <a:graphic>
          <a:graphicData uri="http://schemas.openxmlformats.org/drawingml/2006/table">
            <a:tbl>
              <a:tblPr/>
              <a:tblGrid>
                <a:gridCol w="3268970"/>
                <a:gridCol w="2463122"/>
                <a:gridCol w="2793766"/>
                <a:gridCol w="2595649"/>
                <a:gridCol w="2651837"/>
                <a:gridCol w="3322586"/>
              </a:tblGrid>
              <a:tr h="10204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ERP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StockSmart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Web-Based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IoT-Based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AI-Based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b="true" sz="2399" u="sng">
                          <a:solidFill>
                            <a:srgbClr val="000000"/>
                          </a:solidFill>
                          <a:latin typeface="Arial Bold"/>
                          <a:ea typeface="Arial Bold"/>
                          <a:cs typeface="Arial Bold"/>
                          <a:sym typeface="Arial Bold"/>
                        </a:rPr>
                        <a:t>Feature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3902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241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Very high 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400" strike="noStrike" u="none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Complexity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6490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Hardware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2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  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Yes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Requires Large Data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52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3359"/>
                        </a:lnSpc>
                        <a:defRPr/>
                      </a:pPr>
                      <a:r>
                        <a:rPr lang="en-US" sz="240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            High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Medium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Low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359"/>
                        </a:lnSpc>
                        <a:defRPr/>
                      </a:pPr>
                      <a:r>
                        <a:rPr lang="en-US" sz="2399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Ease of Use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17870567" y="9947634"/>
            <a:ext cx="32599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‹#›</a:t>
            </a:r>
          </a:p>
        </p:txBody>
      </p:sp>
      <p:sp>
        <p:nvSpPr>
          <p:cNvPr name="AutoShape 7" id="7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1312" y="304486"/>
            <a:ext cx="14084160" cy="1143273"/>
            <a:chOff x="0" y="0"/>
            <a:chExt cx="18778880" cy="152436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778880" cy="1524356"/>
            </a:xfrm>
            <a:custGeom>
              <a:avLst/>
              <a:gdLst/>
              <a:ahLst/>
              <a:cxnLst/>
              <a:rect r="r" b="b" t="t" l="l"/>
              <a:pathLst>
                <a:path h="1524356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1524356"/>
                  </a:lnTo>
                  <a:lnTo>
                    <a:pt x="0" y="152435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03658" r="0" b="-17642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8778880" cy="15529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9.Conclusion</a:t>
              </a:r>
            </a:p>
          </p:txBody>
        </p:sp>
      </p:grpSp>
      <p:sp>
        <p:nvSpPr>
          <p:cNvPr name="AutoShape 5" id="5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361312" y="2711832"/>
            <a:ext cx="15933959" cy="440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Replaces manual inventory with a simple digital system</a:t>
            </a:r>
          </a:p>
          <a:p>
            <a:pPr algn="just">
              <a:lnSpc>
                <a:spcPts val="3840"/>
              </a:lnSpc>
            </a:pPr>
          </a:p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Provides real-time stock tracking and updates</a:t>
            </a:r>
          </a:p>
          <a:p>
            <a:pPr algn="just">
              <a:lnSpc>
                <a:spcPts val="3840"/>
              </a:lnSpc>
            </a:pPr>
          </a:p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Reduces losses with alerts for low stock and expiry</a:t>
            </a:r>
          </a:p>
          <a:p>
            <a:pPr algn="just">
              <a:lnSpc>
                <a:spcPts val="3840"/>
              </a:lnSpc>
            </a:pPr>
          </a:p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More affordable and easier than complex systems</a:t>
            </a:r>
          </a:p>
          <a:p>
            <a:pPr algn="just">
              <a:lnSpc>
                <a:spcPts val="3840"/>
              </a:lnSpc>
            </a:pPr>
          </a:p>
          <a:p>
            <a:pPr algn="just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b="true" sz="32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Improves efficiency and supports business growth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0" y="1524042"/>
            <a:ext cx="18288000" cy="0"/>
          </a:xfrm>
          <a:prstGeom prst="line">
            <a:avLst/>
          </a:prstGeom>
          <a:ln cap="rnd" w="3810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361312" y="538139"/>
            <a:ext cx="14084160" cy="661392"/>
            <a:chOff x="0" y="0"/>
            <a:chExt cx="18778880" cy="88185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8778880" cy="881851"/>
            </a:xfrm>
            <a:custGeom>
              <a:avLst/>
              <a:gdLst/>
              <a:ahLst/>
              <a:cxnLst/>
              <a:rect r="r" b="b" t="t" l="l"/>
              <a:pathLst>
                <a:path h="881851" w="18778880">
                  <a:moveTo>
                    <a:pt x="0" y="0"/>
                  </a:moveTo>
                  <a:lnTo>
                    <a:pt x="18778880" y="0"/>
                  </a:lnTo>
                  <a:lnTo>
                    <a:pt x="18778880" y="881851"/>
                  </a:lnTo>
                  <a:lnTo>
                    <a:pt x="0" y="8818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52041" r="0" b="-377820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8778880" cy="9104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39"/>
                </a:lnSpc>
              </a:pPr>
              <a:r>
                <a:rPr lang="en-US" sz="31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REFERENCES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20030" y="1771691"/>
            <a:ext cx="17647939" cy="7710798"/>
            <a:chOff x="0" y="0"/>
            <a:chExt cx="4648017" cy="2030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48017" cy="2030827"/>
            </a:xfrm>
            <a:custGeom>
              <a:avLst/>
              <a:gdLst/>
              <a:ahLst/>
              <a:cxnLst/>
              <a:rect r="r" b="b" t="t" l="l"/>
              <a:pathLst>
                <a:path h="2030827" w="4648017">
                  <a:moveTo>
                    <a:pt x="0" y="0"/>
                  </a:moveTo>
                  <a:lnTo>
                    <a:pt x="4648017" y="0"/>
                  </a:lnTo>
                  <a:lnTo>
                    <a:pt x="4648017" y="2030827"/>
                  </a:lnTo>
                  <a:lnTo>
                    <a:pt x="0" y="2030827"/>
                  </a:lnTo>
                  <a:close/>
                </a:path>
              </a:pathLst>
            </a:custGeom>
            <a:solidFill>
              <a:srgbClr val="E2E2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4648017" cy="20403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39375" y="2359480"/>
            <a:ext cx="18009251" cy="630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F. F. Agboola, Y. M. Malgwi, M. A. Mahmud, and J. P. Oguntoye, "Development of a web-based platform for automating an inventory management of a small and medium enterprise," FUDMA Journal of Sciences (FJS), vol. 6, no. 5, pp. 57–65, Oct. 2022, doi: 10.33003/fjs-2022-0605</a:t>
            </a:r>
          </a:p>
          <a:p>
            <a:pPr algn="l">
              <a:lnSpc>
                <a:spcPts val="3359"/>
              </a:lnSpc>
            </a:pP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G.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Haider and E. Lucas, “Smart Inventory Management for SMEs: Leveraging IoT and Automation to Streamline Stock Control and Minimize Costs,” ResearchGate, Dec. 2024. DOI: 10.13140/RG.2.2.33042.57282.</a:t>
            </a:r>
          </a:p>
          <a:p>
            <a:pPr algn="l">
              <a:lnSpc>
                <a:spcPts val="3359"/>
              </a:lnSpc>
            </a:pPr>
          </a:p>
          <a:p>
            <a:pPr algn="l" marL="506374" indent="-253187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International Journal for Research in Applied Science and Engineering Technology Abdul Majid K and Kavyashree G.J, “Smart Inventory &amp; Sales Analytics for Supermarkets,” International Journal for Research in Applied Science and Engineering Technology (IJRASET), vol. 13, no. 8, pp. 748–757, Aug. 2025, doi: 10.22214/ijraset.2025.73635.</a:t>
            </a:r>
          </a:p>
          <a:p>
            <a:pPr algn="l">
              <a:lnSpc>
                <a:spcPts val="3359"/>
              </a:lnSpc>
            </a:pPr>
          </a:p>
          <a:p>
            <a:pPr algn="l" marL="506730" indent="-253365" lvl="1">
              <a:lnSpc>
                <a:spcPts val="3359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M. R. N. M. Qureshi, "Evaluating enterprise resource planning (ERP) implementation for sustainable supply chain management," Sustainability, vol. 14, no. 22, pp. 1–21, Nov. 2022, </a:t>
            </a:r>
            <a:r>
              <a:rPr lang="en-US" sz="2799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doi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799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10.3390/su142214779</a:t>
            </a:r>
          </a:p>
        </p:txBody>
      </p:sp>
      <p:sp>
        <p:nvSpPr>
          <p:cNvPr name="AutoShape 10" id="10"/>
          <p:cNvSpPr/>
          <p:nvPr/>
        </p:nvSpPr>
        <p:spPr>
          <a:xfrm>
            <a:off x="-166690" y="9967855"/>
            <a:ext cx="18818790" cy="0"/>
          </a:xfrm>
          <a:prstGeom prst="line">
            <a:avLst/>
          </a:prstGeom>
          <a:ln cap="rnd" w="171450">
            <a:solidFill>
              <a:srgbClr val="00009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15176929" y="180975"/>
            <a:ext cx="3111071" cy="1266784"/>
          </a:xfrm>
          <a:custGeom>
            <a:avLst/>
            <a:gdLst/>
            <a:ahLst/>
            <a:cxnLst/>
            <a:rect r="r" b="b" t="t" l="l"/>
            <a:pathLst>
              <a:path h="1266784" w="3111071">
                <a:moveTo>
                  <a:pt x="0" y="0"/>
                </a:moveTo>
                <a:lnTo>
                  <a:pt x="3111071" y="0"/>
                </a:lnTo>
                <a:lnTo>
                  <a:pt x="3111071" y="1266783"/>
                </a:lnTo>
                <a:lnTo>
                  <a:pt x="0" y="126678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DAHIbDJQGfw</dc:identifier>
  <dcterms:modified xsi:type="dcterms:W3CDTF">2011-08-01T06:04:30Z</dcterms:modified>
  <cp:revision>1</cp:revision>
  <dc:title>StockSmart_Group06</dc:title>
</cp:coreProperties>
</file>